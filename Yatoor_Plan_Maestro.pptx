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embeddedFontLst>
    <p:embeddedFont>
      <p:font typeface="Archivo"/>
      <p:regular r:id="rId18"/>
      <p:bold r:id="rId19"/>
    </p:embeddedFont>
    <p:embeddedFont>
      <p:font typeface="DM Sans"/>
      <p:regular r:id="rId20"/>
      <p:bold r:id="rId21"/>
      <p:italic r:id="rId22"/>
    </p:embeddedFont>
    <p:embeddedFont>
      <p:font typeface="DM Sans Medium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Costos fijos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61A"/>
              </a:solidFill>
              <a:ln w="25400" cap="flat">
                <a:solidFill>
                  <a:srgbClr val="F5F2E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3D42"/>
              </a:solidFill>
              <a:ln w="25400" cap="flat">
                <a:solidFill>
                  <a:srgbClr val="F5F2E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E7278"/>
              </a:solidFill>
              <a:ln w="25400" cap="flat">
                <a:solidFill>
                  <a:srgbClr val="F5F2EA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A8578"/>
              </a:solidFill>
              <a:ln w="25400" cap="flat">
                <a:solidFill>
                  <a:srgbClr val="F5F2EA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C4B5"/>
              </a:solidFill>
              <a:ln w="25400" cap="flat">
                <a:solidFill>
                  <a:srgbClr val="F5F2E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Supabase</c:v>
                </c:pt>
                <c:pt idx="1">
                  <c:v>Vercel</c:v>
                </c:pt>
                <c:pt idx="2">
                  <c:v>Stores</c:v>
                </c:pt>
                <c:pt idx="3">
                  <c:v>Almac.</c:v>
                </c:pt>
                <c:pt idx="4">
                  <c:v>Ops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25</c:v>
                </c:pt>
                <c:pt idx="1">
                  <c:v>25</c:v>
                </c:pt>
                <c:pt idx="2">
                  <c:v>10.41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4161A"/>
              </a:solidFill>
              <a:latin typeface="DM Sans"/>
              <a:cs typeface="DM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Pesimista (1,0%)</c:v>
                </c:pt>
              </c:strCache>
            </c:strRef>
          </c:tx>
          <c:spPr>
            <a:solidFill>
              <a:srgbClr val="C9C4B5"/>
            </a:solidFill>
            <a:ln w="38100" cap="flat">
              <a:solidFill>
                <a:srgbClr val="C9C4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C4B5"/>
              </a:solidFill>
              <a:ln w="9525" cap="flat">
                <a:solidFill>
                  <a:srgbClr val="C9C4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500</c:v>
                  </c:pt>
                  <c:pt idx="1">
                    <c:v>2.500</c:v>
                  </c:pt>
                  <c:pt idx="2">
                    <c:v>10.000</c:v>
                  </c:pt>
                  <c:pt idx="3">
                    <c:v>50.000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-39.59</c:v>
                </c:pt>
                <c:pt idx="1">
                  <c:v>42.04</c:v>
                </c:pt>
                <c:pt idx="2">
                  <c:v>298.15</c:v>
                </c:pt>
                <c:pt idx="3">
                  <c:v>1778.25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Conservador (2,5%)</c:v>
                </c:pt>
              </c:strCache>
            </c:strRef>
          </c:tx>
          <c:spPr>
            <a:solidFill>
              <a:srgbClr val="8A8578"/>
            </a:solidFill>
            <a:ln w="38100" cap="flat">
              <a:solidFill>
                <a:srgbClr val="8A85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578"/>
              </a:solidFill>
              <a:ln w="9525" cap="flat">
                <a:solidFill>
                  <a:srgbClr val="8A85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500</c:v>
                  </c:pt>
                  <c:pt idx="1">
                    <c:v>2.500</c:v>
                  </c:pt>
                  <c:pt idx="2">
                    <c:v>10.000</c:v>
                  </c:pt>
                  <c:pt idx="3">
                    <c:v>50.000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-5.66</c:v>
                </c:pt>
                <c:pt idx="1">
                  <c:v>203.21</c:v>
                </c:pt>
                <c:pt idx="2">
                  <c:v>934.38</c:v>
                </c:pt>
                <c:pt idx="3">
                  <c:v>4959.38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Optimista (4,5%)</c:v>
                </c:pt>
              </c:strCache>
            </c:strRef>
          </c:tx>
          <c:spPr>
            <a:solidFill>
              <a:srgbClr val="14161A"/>
            </a:solidFill>
            <a:ln w="38100" cap="flat">
              <a:solidFill>
                <a:srgbClr val="1416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161A"/>
              </a:solidFill>
              <a:ln w="9525" cap="flat">
                <a:solidFill>
                  <a:srgbClr val="1416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500</c:v>
                  </c:pt>
                  <c:pt idx="1">
                    <c:v>2.500</c:v>
                  </c:pt>
                  <c:pt idx="2">
                    <c:v>10.000</c:v>
                  </c:pt>
                  <c:pt idx="3">
                    <c:v>50.000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36.75</c:v>
                </c:pt>
                <c:pt idx="1">
                  <c:v>415.29</c:v>
                </c:pt>
                <c:pt idx="2">
                  <c:v>1782.68</c:v>
                </c:pt>
                <c:pt idx="3">
                  <c:v>9200.88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8578"/>
                    </a:solidFill>
                    <a:latin typeface="DM Sans Medium"/>
                  </a:defRPr>
                </a:pPr>
                <a:r>
                  <a:rPr sz="1000" b="0" i="0" u="none" strike="noStrike">
                    <a:solidFill>
                      <a:srgbClr val="8A8578"/>
                    </a:solidFill>
                    <a:latin typeface="DM Sans Medium"/>
                  </a:rPr>
                  <a:t>Usuarios activos (MAU)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278"/>
                </a:solidFill>
                <a:latin typeface="DM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EDA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8578"/>
                    </a:solidFill>
                    <a:latin typeface="DM Sans Medium"/>
                  </a:defRPr>
                </a:pPr>
                <a:r>
                  <a:rPr sz="1000" b="0" i="0" u="none" strike="noStrike">
                    <a:solidFill>
                      <a:srgbClr val="8A8578"/>
                    </a:solidFill>
                    <a:latin typeface="DM Sans Medium"/>
                  </a:rPr>
                  <a:t>Flujo de caja · USD/mes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278"/>
                </a:solidFill>
                <a:latin typeface="DM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4161A"/>
              </a:solidFill>
              <a:latin typeface="DM Sans"/>
              <a:cs typeface="DM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alo_nube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1691640" y="320040"/>
            <a:ext cx="8778240" cy="5486400"/>
          </a:xfrm>
          <a:prstGeom prst="rect">
            <a:avLst/>
          </a:prstGeom>
        </p:spPr>
      </p:pic>
      <p:pic>
        <p:nvPicPr>
          <p:cNvPr id="3" name="Image 1" descr="wordmark_n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783080"/>
            <a:ext cx="7863840" cy="21671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397764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 compañero de viaje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66928" y="459028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C9C4B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Plan Maestro — Producto, Arquitectura y Finanzas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66928" y="617220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5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BUENOS AIRES  ·  2026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800600" y="5989320"/>
            <a:ext cx="25603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EL PRODUCTO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Una sola experiencia continua, en tres pestañas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2148840"/>
            <a:ext cx="3462528" cy="3566160"/>
          </a:xfrm>
          <a:prstGeom prst="roundRect">
            <a:avLst>
              <a:gd name="adj" fmla="val 3697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2423160"/>
            <a:ext cx="291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MAPA · IZQUIERDA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Mapa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2913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lienzo. Muestra los puntos cercanos en exploración libre y la ruta activa en modo tour.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4572000"/>
            <a:ext cx="2913888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690872"/>
            <a:ext cx="2913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Geofencing con radios de 50 m dispara el audio al llegar — y cuida la batería.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9496" y="1892808"/>
            <a:ext cx="3462528" cy="3822192"/>
          </a:xfrm>
          <a:prstGeom prst="roundRect">
            <a:avLst>
              <a:gd name="adj" fmla="val 3697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3816" y="2167128"/>
            <a:ext cx="291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YATOOR · CENTRO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05528" y="2395728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Yatoor</a:t>
            </a:r>
            <a:endParaRPr lang="en-US" sz="2600" dirty="0"/>
          </a:p>
        </p:txBody>
      </p:sp>
      <p:pic>
        <p:nvPicPr>
          <p:cNvPr id="14" name="Image 1" descr="nube_gradi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3816" y="3063240"/>
            <a:ext cx="1371600" cy="310896"/>
          </a:xfrm>
          <a:prstGeom prst="ellipse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23816" y="3063240"/>
            <a:ext cx="1371600" cy="31089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23816" y="3063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61A"/>
                </a:solidFill>
              </a:rPr>
              <a:t>● </a:t>
            </a:r>
            <a:pPr algn="ctr" indent="0" marL="0">
              <a:buNone/>
            </a:pPr>
            <a:r>
              <a:rPr lang="en-US" sz="950" spc="180" kern="0" dirty="0">
                <a:solidFill>
                  <a:srgbClr val="14161A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 VIVO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623816" y="3520440"/>
            <a:ext cx="2913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cerebro. Interfaz conversacional que devuelve tarjetas — tiempo, distancia, paradas — nunca textos largos.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623816" y="4572000"/>
            <a:ext cx="2913888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23816" y="4690872"/>
            <a:ext cx="2913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B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 la propuesta de valor: armás el recorrido hablando.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2064" y="2148840"/>
            <a:ext cx="3462528" cy="3566160"/>
          </a:xfrm>
          <a:prstGeom prst="roundRect">
            <a:avLst>
              <a:gd name="adj" fmla="val 3697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06384" y="2423160"/>
            <a:ext cx="291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PERFIL · DERECHA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388096" y="2651760"/>
            <a:ext cx="2950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Perfil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406384" y="3383280"/>
            <a:ext cx="2913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Rutas guardadas para uso offline, logros desbloqueados y configuración de la audioguía.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8406384" y="4572000"/>
            <a:ext cx="2913888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406384" y="4690872"/>
            <a:ext cx="2913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Cierra el ciclo y alimenta lo que viene: la capa social.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271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2286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02 · LA ESTRATEGIA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2606040"/>
            <a:ext cx="11027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60" kern="0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arquitectura híbrida</a:t>
            </a:r>
            <a:endParaRPr lang="en-US" sz="5200" dirty="0"/>
          </a:p>
        </p:txBody>
      </p:sp>
      <p:pic>
        <p:nvPicPr>
          <p:cNvPr id="5" name="Image 1" descr="sub_asesi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30752"/>
            <a:ext cx="5152644" cy="45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" y="2240280"/>
            <a:ext cx="1463040" cy="0"/>
          </a:xfrm>
          <a:prstGeom prst="line">
            <a:avLst/>
          </a:prstGeom>
          <a:noFill/>
          <a:ln w="19050">
            <a:solidFill>
              <a:srgbClr val="8A857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ARQUITECTURA HÍBRIDA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29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Cuatro niveles que aplastan el costo variable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7918704" cy="850392"/>
          </a:xfrm>
          <a:prstGeom prst="roundRect">
            <a:avLst>
              <a:gd name="adj" fmla="val 1505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874520"/>
            <a:ext cx="731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C4B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527048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2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LLM con caché semántico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27048" y="23134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un pedido tiene 95% de similitud con uno anterior, se entrega el JSON ya cacheado. No se llama al modelo.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98848" y="187452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$0,00 por ruta</a:t>
            </a:r>
            <a:endParaRPr lang="en-US" sz="100" dirty="0"/>
          </a:p>
        </p:txBody>
      </p:sp>
      <p:sp>
        <p:nvSpPr>
          <p:cNvPr id="10" name="Shape 7"/>
          <p:cNvSpPr/>
          <p:nvPr/>
        </p:nvSpPr>
        <p:spPr>
          <a:xfrm>
            <a:off x="566928" y="2852928"/>
            <a:ext cx="7918704" cy="850392"/>
          </a:xfrm>
          <a:prstGeom prst="roundRect">
            <a:avLst>
              <a:gd name="adj" fmla="val 1505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852928"/>
            <a:ext cx="731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C4B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527048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2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Base de datos local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27048" y="329184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400 monumentos y museos principales de CABA viven en Supabase. Consultarlos no se paga.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98848" y="2852928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 gratis</a:t>
            </a:r>
            <a:endParaRPr lang="en-US" sz="100" dirty="0"/>
          </a:p>
        </p:txBody>
      </p:sp>
      <p:sp>
        <p:nvSpPr>
          <p:cNvPr id="15" name="Shape 12"/>
          <p:cNvSpPr/>
          <p:nvPr/>
        </p:nvSpPr>
        <p:spPr>
          <a:xfrm>
            <a:off x="566928" y="3831336"/>
            <a:ext cx="7918704" cy="850392"/>
          </a:xfrm>
          <a:prstGeom prst="roundRect">
            <a:avLst>
              <a:gd name="adj" fmla="val 1505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831336"/>
            <a:ext cx="731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C4B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527048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2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Mapbox + OSRM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27048" y="42702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Reemplaza a Google Maps: 25.000 usuarios gratis para el mapa base y ruteo a pie open source.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98848" y="3831336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ruteo gratis</a:t>
            </a:r>
            <a:endParaRPr lang="en-US" sz="100" dirty="0"/>
          </a:p>
        </p:txBody>
      </p:sp>
      <p:sp>
        <p:nvSpPr>
          <p:cNvPr id="20" name="Shape 17"/>
          <p:cNvSpPr/>
          <p:nvPr/>
        </p:nvSpPr>
        <p:spPr>
          <a:xfrm>
            <a:off x="566928" y="4809744"/>
            <a:ext cx="7918704" cy="850392"/>
          </a:xfrm>
          <a:prstGeom prst="roundRect">
            <a:avLst>
              <a:gd name="adj" fmla="val 1505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809744"/>
            <a:ext cx="731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C4B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1527048" y="4928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2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Google Places on-demand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27048" y="524865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API cara sólo se gatilla cuando hace falta contexto en vivo — p. ej. qué restaurantes están abiertos ahora.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98848" y="4809744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$0,032 / búsqueda</a:t>
            </a:r>
            <a:endParaRPr lang="en-US" sz="100" dirty="0"/>
          </a:p>
        </p:txBody>
      </p:sp>
      <p:sp>
        <p:nvSpPr>
          <p:cNvPr id="25" name="Shape 22"/>
          <p:cNvSpPr/>
          <p:nvPr/>
        </p:nvSpPr>
        <p:spPr>
          <a:xfrm>
            <a:off x="8714232" y="1874520"/>
            <a:ext cx="2880360" cy="3785616"/>
          </a:xfrm>
          <a:prstGeom prst="roundRect">
            <a:avLst>
              <a:gd name="adj" fmla="val 4444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70264" y="2167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RESULTADO</a:t>
            </a:r>
            <a:endParaRPr lang="en-US" sz="1050" dirty="0"/>
          </a:p>
        </p:txBody>
      </p:sp>
      <p:pic>
        <p:nvPicPr>
          <p:cNvPr id="27" name="Image 1" descr="n_00025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6" y="2587752"/>
            <a:ext cx="2364090" cy="56692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970264" y="34290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4B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costo variable por usuario, al mes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970264" y="4160520"/>
            <a:ext cx="2368296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970264" y="4306824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lo variable en el piso, el costo fijo es el que manda. Y el fijo es minúsculo.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ESTRUCTURA DE COSTOS ·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7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Toda la infraestructura base cuesta $70,41 por mes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PROVEEDOR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675888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CONCEPTO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59612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MENSUAL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2231136"/>
            <a:ext cx="6126480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Licencias · Apple / Google Play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75888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Programa de desarrolladores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96128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$10,41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779776"/>
            <a:ext cx="6126480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 · Supabase Pro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75888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Usuarios y base de CABA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9612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$25,00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328416"/>
            <a:ext cx="6126480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Almacenamiento · Supabase / S3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75888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Imágenes y fotos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96128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$5,00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" y="3877056"/>
            <a:ext cx="6126480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Servidores · Vercel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75888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y funciones IA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96128" y="3931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$25,00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4425696"/>
            <a:ext cx="6126480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Operaciones · Namecheap + Resend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75888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Dominio y correos (Auth)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96128" y="4480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$5,00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4974336"/>
            <a:ext cx="6126480" cy="0"/>
          </a:xfrm>
          <a:prstGeom prst="line">
            <a:avLst/>
          </a:prstGeom>
          <a:noFill/>
          <a:ln w="19050">
            <a:solidFill>
              <a:srgbClr val="1416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14161A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FIJOS BASE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81728" y="5029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$70,41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7150608" y="1920240"/>
            <a:ext cx="4443984" cy="3931920"/>
          </a:xfrm>
          <a:prstGeom prst="roundRect">
            <a:avLst>
              <a:gd name="adj" fmla="val 3256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24928" y="21488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COMPOSICIÓN</a:t>
            </a:r>
            <a:endParaRPr lang="en-US" sz="10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7379208" y="2423160"/>
          <a:ext cx="3986784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 30"/>
          <p:cNvSpPr/>
          <p:nvPr/>
        </p:nvSpPr>
        <p:spPr>
          <a:xfrm>
            <a:off x="7424928" y="5257800"/>
            <a:ext cx="3895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Servidores y base de datos son el 71% del fijo.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ESTRUCTURA DE COSTOS ·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Cada usuario nuevo cuesta casi nada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66928" y="2011680"/>
            <a:ext cx="4937760" cy="3749040"/>
          </a:xfrm>
          <a:prstGeom prst="roundRect">
            <a:avLst>
              <a:gd name="adj" fmla="val 3415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2331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COSTO VARIABLE UNITARIO</a:t>
            </a:r>
            <a:endParaRPr lang="en-US" sz="1050" dirty="0"/>
          </a:p>
        </p:txBody>
      </p:sp>
      <p:pic>
        <p:nvPicPr>
          <p:cNvPr id="7" name="Image 1" descr="n_00025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61488"/>
            <a:ext cx="4003700" cy="960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por usuario activo, al mes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32688" y="4526280"/>
            <a:ext cx="420624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46634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400.000 usuarios/mes ≈ $1.000 de costo variable total. El modelo no se rompe al escalar.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16168" y="2011680"/>
            <a:ext cx="5678424" cy="822960"/>
          </a:xfrm>
          <a:prstGeom prst="roundRect">
            <a:avLst>
              <a:gd name="adj" fmla="val 15556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72200" y="2130552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IA · tokens (LLM)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172200" y="2441448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caché semántico absorbe el 80% de las consultas.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902952" y="2011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$0,0015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16168" y="2944368"/>
            <a:ext cx="5678424" cy="822960"/>
          </a:xfrm>
          <a:prstGeom prst="roundRect">
            <a:avLst>
              <a:gd name="adj" fmla="val 15556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3063240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Mapas · POI on-demand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172200" y="3374136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Places restringido a consultas dinámicas.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902952" y="294436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$0,0010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916168" y="3877056"/>
            <a:ext cx="5678424" cy="822960"/>
          </a:xfrm>
          <a:prstGeom prst="roundRect">
            <a:avLst>
              <a:gd name="adj" fmla="val 15556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72200" y="3995928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Mapas · ruteo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172200" y="4306824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Mapbox bajo la capa gratuita + base local.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9902952" y="38770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A85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$0,0000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916168" y="4809744"/>
            <a:ext cx="5678424" cy="822960"/>
          </a:xfrm>
          <a:prstGeom prst="roundRect">
            <a:avLst>
              <a:gd name="adj" fmla="val 15556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72200" y="4928616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Datos y ancho de banda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172200" y="5239512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 recién sobre el umbral gratuito.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9902952" y="480974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A85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$0,0000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 DE NEGOCIO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7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Tres fuentes de ingreso — cero venta directa de tours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2103120"/>
            <a:ext cx="3462528" cy="3246120"/>
          </a:xfrm>
          <a:prstGeom prst="roundRect">
            <a:avLst>
              <a:gd name="adj" fmla="val 394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2377440"/>
            <a:ext cx="291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B2C · PREMIUM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2633472"/>
            <a:ext cx="2950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Travel Pass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95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8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$4,99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41248" y="4069080"/>
            <a:ext cx="2913888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206240"/>
            <a:ext cx="2913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Pase por 7 días: IA ilimitada, uso 100% offline y audioguía. Evita el abandono de las suscripciones mensuales.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9496" y="2103120"/>
            <a:ext cx="3462528" cy="3246120"/>
          </a:xfrm>
          <a:prstGeom prst="roundRect">
            <a:avLst>
              <a:gd name="adj" fmla="val 394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23816" y="2377440"/>
            <a:ext cx="291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B2B · AFILIADOS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05528" y="2633472"/>
            <a:ext cx="2950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Comisiones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05528" y="3154680"/>
            <a:ext cx="295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8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8–15%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4623816" y="4069080"/>
            <a:ext cx="2913888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3816" y="4206240"/>
            <a:ext cx="2913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Integración con Tiqets y GetYourGuide. Margen puro por cada entrada vendida, sin tocar la operación.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32064" y="2103120"/>
            <a:ext cx="3462528" cy="3246120"/>
          </a:xfrm>
          <a:prstGeom prst="roundRect">
            <a:avLst>
              <a:gd name="adj" fmla="val 3944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06384" y="2377440"/>
            <a:ext cx="291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B2B · LOCAL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88096" y="2633472"/>
            <a:ext cx="2950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Patrocinios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388096" y="3154680"/>
            <a:ext cx="295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8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por pin</a:t>
            </a:r>
            <a:endParaRPr lang="en-US" sz="4400" dirty="0"/>
          </a:p>
        </p:txBody>
      </p:sp>
      <p:sp>
        <p:nvSpPr>
          <p:cNvPr id="21" name="Shape 18"/>
          <p:cNvSpPr/>
          <p:nvPr/>
        </p:nvSpPr>
        <p:spPr>
          <a:xfrm>
            <a:off x="8406384" y="4069080"/>
            <a:ext cx="2913888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06384" y="4206240"/>
            <a:ext cx="2913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Gastronomía y cafés pagan por destacar su pin en el mapa o ser priorizados en contexto.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5577840"/>
            <a:ext cx="11027664" cy="731520"/>
          </a:xfrm>
          <a:prstGeom prst="roundRect">
            <a:avLst>
              <a:gd name="adj" fmla="val 17500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5577840"/>
            <a:ext cx="1029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C9C4B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Neto real por pase   </a:t>
            </a:r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$4,24</a:t>
            </a:r>
            <a:pPr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después del 15% que retienen las tiendas ($0,75).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PUNTO DE EQUILIBRIO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8"/>
              </a:lnSpc>
              <a:buNone/>
            </a:pPr>
            <a:r>
              <a:rPr lang="en-US" sz="29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El break-even se vuelve trivial al escalar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5020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USUARIOS (MAU)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327648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COSTO / MES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22208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VENTAS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168128" y="182880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CONVERSIÓN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2167128"/>
            <a:ext cx="11027664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2128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 · MVP en CABA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50208" y="22128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27648" y="22128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$71,66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522208" y="22128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168128" y="2212848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3,4%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66928" y="2679192"/>
            <a:ext cx="11027664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7249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 · Tracción inicial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950208" y="27249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2.500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327648" y="27249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$76,66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522208" y="27249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168128" y="2724912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0,76%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3191256"/>
            <a:ext cx="11027664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23697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 · Validación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950208" y="32369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10.000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327648" y="32369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$110,41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522208" y="323697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0168128" y="3236976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0,27%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66928" y="3703320"/>
            <a:ext cx="11027664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37490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 · Crecimiento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950208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50.000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327648" y="3749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$275,41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522208" y="3749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0168128" y="374904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0,13%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66928" y="4215384"/>
            <a:ext cx="11027664" cy="0"/>
          </a:xfrm>
          <a:prstGeom prst="line">
            <a:avLst/>
          </a:prstGeom>
          <a:noFill/>
          <a:ln w="12700">
            <a:solidFill>
              <a:srgbClr val="DEDAC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6928" y="4581144"/>
            <a:ext cx="2551176" cy="1234440"/>
          </a:xfrm>
          <a:prstGeom prst="roundRect">
            <a:avLst>
              <a:gd name="adj" fmla="val 10370"/>
            </a:avLst>
          </a:prstGeom>
          <a:solidFill>
            <a:srgbClr val="E2DCCD"/>
          </a:solidFill>
          <a:ln w="12700">
            <a:solidFill>
              <a:srgbClr val="C9C4B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8096" y="4745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72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MVP · 500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31520" y="496519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6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3,4%</a:t>
            </a:r>
            <a:endParaRPr lang="en-US" sz="3400" dirty="0"/>
          </a:p>
        </p:txBody>
      </p:sp>
      <p:sp>
        <p:nvSpPr>
          <p:cNvPr id="38" name="Text 35"/>
          <p:cNvSpPr/>
          <p:nvPr/>
        </p:nvSpPr>
        <p:spPr>
          <a:xfrm>
            <a:off x="768096" y="5513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dentro de todo benchmark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392424" y="4581144"/>
            <a:ext cx="2551176" cy="1234440"/>
          </a:xfrm>
          <a:prstGeom prst="roundRect">
            <a:avLst>
              <a:gd name="adj" fmla="val 10370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93592" y="4745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Tracción · 2.5k</a:t>
            </a:r>
            <a:endParaRPr lang="en-US" sz="950" dirty="0"/>
          </a:p>
        </p:txBody>
      </p:sp>
      <p:pic>
        <p:nvPicPr>
          <p:cNvPr id="41" name="Image 1" descr="n_0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5001768"/>
            <a:ext cx="1711940" cy="50292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3593592" y="5513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muy por debajo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6217920" y="4581144"/>
            <a:ext cx="2551176" cy="1234440"/>
          </a:xfrm>
          <a:prstGeom prst="roundRect">
            <a:avLst>
              <a:gd name="adj" fmla="val 10370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419088" y="4745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Validación · 10k</a:t>
            </a:r>
            <a:endParaRPr lang="en-US" sz="950" dirty="0"/>
          </a:p>
        </p:txBody>
      </p:sp>
      <p:pic>
        <p:nvPicPr>
          <p:cNvPr id="45" name="Image 2" descr="n_0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001768"/>
            <a:ext cx="1710431" cy="5029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419088" y="5513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despreciable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9043416" y="4581144"/>
            <a:ext cx="2551176" cy="1234440"/>
          </a:xfrm>
          <a:prstGeom prst="roundRect">
            <a:avLst>
              <a:gd name="adj" fmla="val 10370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9244584" y="4745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Crecimiento · 50k</a:t>
            </a:r>
            <a:endParaRPr lang="en-US" sz="950" dirty="0"/>
          </a:p>
        </p:txBody>
      </p:sp>
      <p:pic>
        <p:nvPicPr>
          <p:cNvPr id="49" name="Image 3" descr="n_01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5001768"/>
            <a:ext cx="1706910" cy="50292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244584" y="55138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despreciable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566928" y="5998464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Benchmark de una app de viajes: 2,41% de conversión. Sólo el MVP lo roza; a partir de la tracción, el equilibrio queda muy por debajo del piso de mercado.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PROYECCIÓN DE INGRESOS NETOS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Flujo de caja mensual por escenario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874520"/>
          <a:ext cx="72237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8065008" y="1874520"/>
            <a:ext cx="3529584" cy="1920240"/>
          </a:xfrm>
          <a:prstGeom prst="roundRect">
            <a:avLst>
              <a:gd name="adj" fmla="val 6667"/>
            </a:avLst>
          </a:prstGeom>
          <a:solidFill>
            <a:srgbClr val="E2DCCD"/>
          </a:solidFill>
          <a:ln w="12700">
            <a:solidFill>
              <a:srgbClr val="C9C4B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321040" y="208483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6E72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 ÚNICA ZONA FRÁGIL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321040" y="2377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1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500 MAU (MVP), sólo el escenario optimista da positivo. Pesimista −$40 y conservador −$6.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065008" y="3977640"/>
            <a:ext cx="3529584" cy="2057400"/>
          </a:xfrm>
          <a:prstGeom prst="roundRect">
            <a:avLst>
              <a:gd name="adj" fmla="val 6222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21040" y="416052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DESDE 2.500 MAU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321040" y="44074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los tres escenarios dan flujo positivo.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321040" y="5074920"/>
            <a:ext cx="30175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pic>
        <p:nvPicPr>
          <p:cNvPr id="13" name="Image 1" descr="n_92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230368"/>
            <a:ext cx="1808683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5742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80" kern="0" dirty="0">
                <a:solidFill>
                  <a:srgbClr val="C9C4B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optimista · 50.000 MAU · por mes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9834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VALIDACIÓN DE SUPUESTOS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4"/>
              </a:lnSpc>
              <a:buNone/>
            </a:pPr>
            <a:r>
              <a:rPr lang="en-US" sz="27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Los números se apoyan en benchmarks de la industria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2057400"/>
            <a:ext cx="2551176" cy="1508760"/>
          </a:xfrm>
          <a:prstGeom prst="roundRect">
            <a:avLst>
              <a:gd name="adj" fmla="val 8485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22585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FREEMIUM GENERAL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9808" y="249631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2,0 – 5,0%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86384" y="2990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Estándar para apps de consumo masivo con compras integradas.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92424" y="2057400"/>
            <a:ext cx="2551176" cy="1508760"/>
          </a:xfrm>
          <a:prstGeom prst="roundRect">
            <a:avLst>
              <a:gd name="adj" fmla="val 8485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22585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UTILIDAD / PROD.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75304" y="249631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1,5 – 3,0%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11880" y="2990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Requieren un ahorro de tiempo percibido de inmediato.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057400"/>
            <a:ext cx="2551176" cy="1508760"/>
          </a:xfrm>
          <a:prstGeom prst="roundRect">
            <a:avLst>
              <a:gd name="adj" fmla="val 8485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22585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APPS DE VIAJE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0" y="249631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1,5 – 4,0%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37376" y="2990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Menor retención, pero intención de pago altísima en destino.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43416" y="2057400"/>
            <a:ext cx="2551176" cy="1508760"/>
          </a:xfrm>
          <a:prstGeom prst="roundRect">
            <a:avLst>
              <a:gd name="adj" fmla="val 8485"/>
            </a:avLst>
          </a:prstGeom>
          <a:solidFill>
            <a:srgbClr val="EDE9DE"/>
          </a:solidFill>
          <a:ln w="12700">
            <a:solidFill>
              <a:srgbClr val="DEDA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62872" y="22585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MICROPAGOS &lt; $5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226296" y="2496312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14161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3,0 – 6,0%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262872" y="2990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72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Bajo el 'precio de un café', la fricción cae en picada.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3931920"/>
            <a:ext cx="11027664" cy="1828800"/>
          </a:xfrm>
          <a:prstGeom prst="roundRect">
            <a:avLst>
              <a:gd name="adj" fmla="val 7000"/>
            </a:avLst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6968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FUENTES (2026)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86968" y="449884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UXCam · Travel Benchmarks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86968" y="4956048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Sitúan la conversión install-to-purchase de Viajes/Turismo en 2,41%, por encima de otras verticales.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71416" y="449884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Reportes Freemium SaaS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471416" y="4956048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Fijan el estándar aceptado de conversión free-to-paid entre 2% y 5% en adopción masiva.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55864" y="449884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Global Subscription Benchmarks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055864" y="4956048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alta conversión en turismo responde a la utilidad sensible al tiempo: se paga por urgencia en destino.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81228"/>
            <a:ext cx="137160" cy="13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20" kern="0" dirty="0">
                <a:solidFill>
                  <a:srgbClr val="8A857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 TESIS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896112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60" kern="0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 arquitectura</a:t>
            </a:r>
            <a:endParaRPr lang="en-US" sz="4000" dirty="0"/>
          </a:p>
        </p:txBody>
      </p:sp>
      <p:pic>
        <p:nvPicPr>
          <p:cNvPr id="5" name="Image 1" descr="w_es_la_ventaj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68"/>
            <a:ext cx="3783111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228600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85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1344168" y="23591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Costo variable ≈ $0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344168" y="270662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sistema híbrido lleva el costo por usuario a $0,0025/mes.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344168" y="3172968"/>
            <a:ext cx="66751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325526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85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344168" y="33284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Manda el costo fijo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44168" y="367588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 el fijo base es minúsculo: $70 a $275 por mes según la escala.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344168" y="4142232"/>
            <a:ext cx="66751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422452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85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1344168" y="4297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Break-even por debajo del mercado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344168" y="464515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equilibrio exige una conversión menor a todo benchmark desde la tracción.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1344168" y="5111496"/>
            <a:ext cx="66751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19379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857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1344168" y="52669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Rentable temprano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344168" y="561441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9C4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Desde 2.500 MAU, los tres escenarios dan flujo de caja positivo.</a:t>
            </a:r>
            <a:endParaRPr lang="en-US" sz="1250" dirty="0"/>
          </a:p>
        </p:txBody>
      </p:sp>
      <p:pic>
        <p:nvPicPr>
          <p:cNvPr id="21" name="Image 2" descr="wordmark_nube_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017520"/>
            <a:ext cx="3200400" cy="8229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4672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 compañero de viaje</a:t>
            </a:r>
            <a:endParaRPr lang="en-US" sz="1500" dirty="0"/>
          </a:p>
        </p:txBody>
      </p:sp>
      <p:pic>
        <p:nvPicPr>
          <p:cNvPr id="23" name="Image 3" descr="nube_gradien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9720" y="4526280"/>
            <a:ext cx="1371600" cy="310896"/>
          </a:xfrm>
          <a:prstGeom prst="ellipse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189720" y="4526280"/>
            <a:ext cx="1371600" cy="31089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189720" y="4526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161A"/>
                </a:solidFill>
              </a:rPr>
              <a:t>● </a:t>
            </a:r>
            <a:pPr algn="ctr" indent="0" marL="0">
              <a:buNone/>
            </a:pPr>
            <a:r>
              <a:rPr lang="en-US" sz="950" spc="180" kern="0" dirty="0">
                <a:solidFill>
                  <a:srgbClr val="14161A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 VIVO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Yatoor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Road to Millonarios</dc:creator>
  <cp:lastModifiedBy>Road to Millonarios</cp:lastModifiedBy>
  <cp:revision>1</cp:revision>
  <dcterms:created xsi:type="dcterms:W3CDTF">2026-08-19T03:41:39Z</dcterms:created>
  <dcterms:modified xsi:type="dcterms:W3CDTF">2026-08-19T03:41:39Z</dcterms:modified>
</cp:coreProperties>
</file>